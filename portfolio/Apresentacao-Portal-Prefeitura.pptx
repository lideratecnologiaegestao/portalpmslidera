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lidera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233" y="548640"/>
            <a:ext cx="1957629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Portal de Prefeitura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93192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DE6F6"/>
                </a:solidFill>
                <a:latin typeface="Calibri"/>
              </a:rPr>
              <a:t>A plataforma digital completa, acessível e em conformidade com a lei para o seu município.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CD07"/>
                </a:solidFill>
                <a:latin typeface="Calibri"/>
              </a:rPr>
              <a:t>Selo Diamante (PNTP) · Multi-tenant · Gov.br · LGPD · IA em Produção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FDAEE"/>
                </a:solidFill>
                <a:latin typeface="Calibri"/>
              </a:rPr>
              <a:t>comercial@lideratecnologia.com.br   ·   www.lideratecnologia.com.br   ·   Demo: prefeitura.lidera.app.br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O que você vai 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O desafio das prefeituras hoje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A plataforma e a arquitetura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Modelo SaaS multi-tenant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Catálogo de 20+ módulos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Conformidade legal nativa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Transparência: 100% PNTP (Diamante)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Segurança, privacidade e LGPD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App do Cidadão e Inteligência Artificial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Caso real e implantação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Próximos passos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de Prefeitura  ·  www.lideratecnologia.com.br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O DESAFIO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Muita exigência legal, pouco orçamento de 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Transparência e PNTP: difícil atingir e manter o selo da Atricon com dados dispersos.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Prazos legais: e-SIC (LAI) e Ouvidoria (Lei 13.460) exigem controle que planilha não dá.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Acessibilidade: a lei exige WCAG/eMAG e VLibras — a maioria dos sites não cumpre.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Custo e dependência: cada sistema é um contrato e um fornecedor diferente.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LGPD: dados do cidadão tratados sem base legal, sem direitos do titular, sem registro de incidentes.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de Prefeitura  ·  www.lideratecnologia.com.br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Uma plataforma, completa e em conformidade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333942"/>
                </a:solidFill>
                <a:latin typeface="Calibri"/>
              </a:rPr>
              <a:t>Site institucional, transparência, ouvidoria/e-SIC, diário oficial, serviços ao cidadão, app mobile e inteligência artificial — em um só produto, com a legislação embutida.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269748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834640"/>
            <a:ext cx="2697480" cy="118872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108960"/>
            <a:ext cx="2368296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351B4"/>
                </a:solidFill>
                <a:latin typeface="Calibri"/>
              </a:rPr>
              <a:t>Tudo integrado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49039"/>
            <a:ext cx="2368296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942"/>
                </a:solidFill>
                <a:latin typeface="Calibri"/>
              </a:rPr>
              <a:t>20+ módulos no mesmo login e nos mesmos dados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6432" y="2834640"/>
            <a:ext cx="269748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432" y="2834640"/>
            <a:ext cx="2697480" cy="118872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3108960"/>
            <a:ext cx="2368296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8821"/>
                </a:solidFill>
                <a:latin typeface="Calibri"/>
              </a:rPr>
              <a:t>Conforme a lei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3749039"/>
            <a:ext cx="2368296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942"/>
                </a:solidFill>
                <a:latin typeface="Calibri"/>
              </a:rPr>
              <a:t>LAI · Lei 13.460 · LC 131/LRF · LGPD · WCAG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2784" y="2834640"/>
            <a:ext cx="269748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2834640"/>
            <a:ext cx="2697480" cy="118872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108960"/>
            <a:ext cx="2368296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C326F"/>
                </a:solidFill>
                <a:latin typeface="Calibri"/>
              </a:rPr>
              <a:t>100% PNTP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749039"/>
            <a:ext cx="2368296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942"/>
                </a:solidFill>
                <a:latin typeface="Calibri"/>
              </a:rPr>
              <a:t>Selo Diamante em transparência pública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9136" y="2834640"/>
            <a:ext cx="269748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89136" y="2834640"/>
            <a:ext cx="2697480" cy="118872"/>
          </a:xfrm>
          <a:prstGeom prst="rect">
            <a:avLst/>
          </a:prstGeom>
          <a:solidFill>
            <a:srgbClr val="0C3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3108960"/>
            <a:ext cx="2368296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C326F"/>
                </a:solidFill>
                <a:latin typeface="Calibri"/>
              </a:rPr>
              <a:t>Multi-tenant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3749039"/>
            <a:ext cx="2368296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942"/>
                </a:solidFill>
                <a:latin typeface="Calibri"/>
              </a:rPr>
              <a:t>uma infra serve N prefeituras, com identidade própria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de Prefeitura  ·  www.lideratecnologia.com.br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Arquitetura segura por projeto</a:t>
            </a:r>
          </a:p>
        </p:txBody>
      </p:sp>
      <p:pic>
        <p:nvPicPr>
          <p:cNvPr id="7" name="Picture 6" descr="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39" y="1691640"/>
            <a:ext cx="730876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20116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Frontend e app falam só com a API (gateway único).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Dados isolados por RLS — prefeitura nunca vê dados de outra.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Duas camadas: RBAC (o que pode fazer) + RLS (o que pode ver).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Tecnologia moderna, aberta e auditável.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de Prefeitura  ·  www.lideratecnologia.com.br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MODELO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Uma plataforma, muitas prefeituras</a:t>
            </a:r>
          </a:p>
        </p:txBody>
      </p:sp>
      <p:pic>
        <p:nvPicPr>
          <p:cNvPr id="7" name="Picture 6" descr="multiten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199" y="1783080"/>
            <a:ext cx="6155121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937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Custo compartilhado entre as prefeituras atendidas.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Atualizou uma vez → todas recebem (correções legais inclusas).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Identidade própria (white-label): cores, logo, domínio e conteúdo.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de Prefeitura  ·  www.lideratecnologia.com.br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PRODUTO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20+ módulos integrados, em 6 áreas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611880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3611880" cy="4572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74520"/>
            <a:ext cx="3282696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Cidadão &amp; Participação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95728"/>
            <a:ext cx="3282696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942"/>
                </a:solidFill>
                <a:latin typeface="Calibri"/>
              </a:rPr>
              <a:t>Ouvidoria/e-SIC · Bot agêntico 24h · WhatsApp · Enquetes · Formulários · Moderação IA · App do Cidadão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611880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611880" cy="45720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874520"/>
            <a:ext cx="3282696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Transparência &amp; Contas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395728"/>
            <a:ext cx="3282696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942"/>
                </a:solidFill>
                <a:latin typeface="Calibri"/>
              </a:rPr>
              <a:t>Portal da Transparência · APLIC/TCE-MT · PNTP Diamante · Diário Oficial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828800"/>
            <a:ext cx="3611880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828800"/>
            <a:ext cx="3611880" cy="457200"/>
          </a:xfrm>
          <a:prstGeom prst="rect">
            <a:avLst/>
          </a:prstGeom>
          <a:solidFill>
            <a:srgbClr val="B35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1874520"/>
            <a:ext cx="3282696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Conteúdo &amp; Comunicação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395728"/>
            <a:ext cx="3282696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942"/>
                </a:solidFill>
                <a:latin typeface="Calibri"/>
              </a:rPr>
              <a:t>CMS drag-drop · Notícias · Secretarias · Galeria · Documentos · Carta de Serviços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941064"/>
            <a:ext cx="3611880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941064"/>
            <a:ext cx="3611880" cy="4572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986784"/>
            <a:ext cx="3282696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Gestão &amp; Administração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507992"/>
            <a:ext cx="3282696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942"/>
                </a:solidFill>
                <a:latin typeface="Calibri"/>
              </a:rPr>
              <a:t>Gerenciador multi-tenant · Usuários/Grupos/Sessões · Escopo por secretaria · Chat interno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941064"/>
            <a:ext cx="3611880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941064"/>
            <a:ext cx="3611880" cy="457200"/>
          </a:xfrm>
          <a:prstGeom prst="rect">
            <a:avLst/>
          </a:prstGeom>
          <a:solidFill>
            <a:srgbClr val="15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3986784"/>
            <a:ext cx="3282696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Inteligência Artificial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4507992"/>
            <a:ext cx="3282696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942"/>
                </a:solidFill>
                <a:latin typeface="Calibri"/>
              </a:rPr>
              <a:t>Chatbot híbrido RAG+semântico · Base treinável pelo gestor · OCR PDFs · Assistente de servidores · IA fiscal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3941064"/>
            <a:ext cx="3611880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3941064"/>
            <a:ext cx="3611880" cy="457200"/>
          </a:xfrm>
          <a:prstGeom prst="rect">
            <a:avLst/>
          </a:prstGeom>
          <a:solidFill>
            <a:srgbClr val="E52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2" y="3986784"/>
            <a:ext cx="3282696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Conformidade &amp; Segurança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4507992"/>
            <a:ext cx="3282696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942"/>
                </a:solidFill>
                <a:latin typeface="Calibri"/>
              </a:rPr>
              <a:t>LGPD self-service · Sigilo ouvidoria (RBAC+RLS) · Turnstile anti-robô · WCAG/VLibras · Login gov.br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de Prefeitura  ·  www.lideratecnologia.com.br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CONFORMIDADE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A lei está no núcleo do produto</a:t>
            </a:r>
          </a:p>
        </p:txBody>
      </p:sp>
      <p:pic>
        <p:nvPicPr>
          <p:cNvPr id="7" name="Picture 6" descr="conform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0372"/>
            <a:ext cx="7040880" cy="27545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20116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351B4"/>
                </a:solidFill>
                <a:latin typeface="Calibri"/>
              </a:rPr>
              <a:t>▸  </a:t>
            </a:r>
            <a:r>
              <a:rPr sz="1400">
                <a:solidFill>
                  <a:srgbClr val="333942"/>
                </a:solidFill>
                <a:latin typeface="Calibri"/>
              </a:rPr>
              <a:t>Prazos legais já configurados: e-SIC 20+10, Ouvidoria 30+30.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351B4"/>
                </a:solidFill>
                <a:latin typeface="Calibri"/>
              </a:rPr>
              <a:t>▸  </a:t>
            </a:r>
            <a:r>
              <a:rPr sz="1400">
                <a:solidFill>
                  <a:srgbClr val="333942"/>
                </a:solidFill>
                <a:latin typeface="Calibri"/>
              </a:rPr>
              <a:t>O sistema alerta e vence os prazos automaticamente.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351B4"/>
                </a:solidFill>
                <a:latin typeface="Calibri"/>
              </a:rPr>
              <a:t>▸  </a:t>
            </a:r>
            <a:r>
              <a:rPr sz="1400">
                <a:solidFill>
                  <a:srgbClr val="333942"/>
                </a:solidFill>
                <a:latin typeface="Calibri"/>
              </a:rPr>
              <a:t>Acessibilidade obrigatória: tema reprovado no contraste não salva.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351B4"/>
                </a:solidFill>
                <a:latin typeface="Calibri"/>
              </a:rPr>
              <a:t>▸  </a:t>
            </a:r>
            <a:r>
              <a:rPr sz="1400">
                <a:solidFill>
                  <a:srgbClr val="333942"/>
                </a:solidFill>
                <a:latin typeface="Calibri"/>
              </a:rPr>
              <a:t>Login do cidadão via gov.br (Login Único).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de Prefeitura  ·  www.lideratecnologia.com.br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CD07"/>
                </a:solidFill>
                <a:latin typeface="Calibri"/>
              </a:rPr>
              <a:t>TRANSPARÊNCIA · PNTP / ATRICON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100% dos critérios — Selo Diamante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08792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n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153" y="2011680"/>
            <a:ext cx="6271213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3942"/>
                </a:solidFill>
                <a:latin typeface="Calibri"/>
              </a:rPr>
              <a:t>Sua prefeitura entra no ar já na nota máxima da transparência pública — Receita, Despesa, RH, Licitações e Contratos em 100%.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SEGURANÇA &amp; PRIVACIDADE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Dados protegidos e isolados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Isolamento por RLS: cada consulta é restrita ao município — impossível cruzar dados entre prefeituras.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Sigilo jurídico da ouvidoria: RBAC + RLS por papel — denúncias invisíveis até para o administrador da prefeitura.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Autocadastro de usuário + solicitação de elevação por cargo; ouvidor exige aprovação da operadora e assina termo de sigilo.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Escopo por secretaria: servidor só gerencia o conteúdo da sua área.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Cloudflare Turnstile: proteção anti-robô em logins e formulários sem CAPTCHA incômodo.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LGPD por projeto: base legal por finalidade, logs de acesso, auditoria completa.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Borda protegida: Cloudflare Zero Trust + WAF + TLS. Login gov.br para cidadãos.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de Prefeitura  ·  www.lideratecnologia.com.br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CIDADÃO &amp;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App do Cidadão + Inteligência Artificial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349240" cy="41148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349240" cy="4572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5029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📱  App do Cidadão (mobile)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351B4"/>
                </a:solidFill>
                <a:latin typeface="Calibri"/>
              </a:rPr>
              <a:t>▸  </a:t>
            </a:r>
            <a:r>
              <a:rPr sz="1350">
                <a:solidFill>
                  <a:srgbClr val="333942"/>
                </a:solidFill>
                <a:latin typeface="Calibri"/>
              </a:rPr>
              <a:t>Chamados georreferenciados: buracos, terrenos, animais.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351B4"/>
                </a:solidFill>
                <a:latin typeface="Calibri"/>
              </a:rPr>
              <a:t>▸  </a:t>
            </a:r>
            <a:r>
              <a:rPr sz="1350">
                <a:solidFill>
                  <a:srgbClr val="333942"/>
                </a:solidFill>
                <a:latin typeface="Calibri"/>
              </a:rPr>
              <a:t>Foto + GPS, detecção de duplicados por proximidade.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351B4"/>
                </a:solidFill>
                <a:latin typeface="Calibri"/>
              </a:rPr>
              <a:t>▸  </a:t>
            </a:r>
            <a:r>
              <a:rPr sz="1350">
                <a:solidFill>
                  <a:srgbClr val="333942"/>
                </a:solidFill>
                <a:latin typeface="Calibri"/>
              </a:rPr>
              <a:t>Acompanhamento e notificações (push).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351B4"/>
                </a:solidFill>
                <a:latin typeface="Calibri"/>
              </a:rPr>
              <a:t>▸  </a:t>
            </a:r>
            <a:r>
              <a:rPr sz="1350">
                <a:solidFill>
                  <a:srgbClr val="333942"/>
                </a:solidFill>
                <a:latin typeface="Calibri"/>
              </a:rPr>
              <a:t>Login gov.br · tema da prefeitura (white-label).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5349240" cy="41148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828800"/>
            <a:ext cx="5349240" cy="45720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19"/>
            <a:ext cx="5029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🤖  Inteligência Artificial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351B4"/>
                </a:solidFill>
                <a:latin typeface="Calibri"/>
              </a:rPr>
              <a:t>▸  </a:t>
            </a:r>
            <a:r>
              <a:rPr sz="1350">
                <a:solidFill>
                  <a:srgbClr val="333942"/>
                </a:solidFill>
                <a:latin typeface="Calibri"/>
              </a:rPr>
              <a:t>Chatbot com busca híbrida (palavra + significado) + OCR de PDFs antigos.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351B4"/>
                </a:solidFill>
                <a:latin typeface="Calibri"/>
              </a:rPr>
              <a:t>▸  </a:t>
            </a:r>
            <a:r>
              <a:rPr sz="1350">
                <a:solidFill>
                  <a:srgbClr val="333942"/>
                </a:solidFill>
                <a:latin typeface="Calibri"/>
              </a:rPr>
              <a:t>Base treinável pelo gestor: artigos livres viram conhecimento da IA.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351B4"/>
                </a:solidFill>
                <a:latin typeface="Calibri"/>
              </a:rPr>
              <a:t>▸  </a:t>
            </a:r>
            <a:r>
              <a:rPr sz="1350">
                <a:solidFill>
                  <a:srgbClr val="333942"/>
                </a:solidFill>
                <a:latin typeface="Calibri"/>
              </a:rPr>
              <a:t>Bot agêntico: executa ações por linguagem natural (abre protocolo, consulta status).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351B4"/>
                </a:solidFill>
                <a:latin typeface="Calibri"/>
              </a:rPr>
              <a:t>▸  </a:t>
            </a:r>
            <a:r>
              <a:rPr sz="1350">
                <a:solidFill>
                  <a:srgbClr val="333942"/>
                </a:solidFill>
                <a:latin typeface="Calibri"/>
              </a:rPr>
              <a:t>Moderação automática de comentários e IA fiscal na transparência.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de Prefeitura  ·  www.lideratecnologia.com.br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PROVA DE ENTREGA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Caso real — Barão de Melgaço (MT)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333942"/>
                </a:solidFill>
                <a:latin typeface="Calibri"/>
              </a:rPr>
              <a:t>Site legado (Joomla) migrado integralmente para a plataforma, preservando histórico e SEO: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2697480" cy="18288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26974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351B4"/>
                </a:solidFill>
                <a:latin typeface="Calibri"/>
              </a:rPr>
              <a:t>455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26974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942"/>
                </a:solidFill>
                <a:latin typeface="Calibri"/>
              </a:rPr>
              <a:t>notícias migradas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2651760"/>
            <a:ext cx="2697480" cy="18288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2834640"/>
            <a:ext cx="26974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351B4"/>
                </a:solidFill>
                <a:latin typeface="Calibri"/>
              </a:rPr>
              <a:t>1.180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3794760"/>
            <a:ext cx="26974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942"/>
                </a:solidFill>
                <a:latin typeface="Calibri"/>
              </a:rPr>
              <a:t>documentos migrados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2651760"/>
            <a:ext cx="2697480" cy="18288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2834640"/>
            <a:ext cx="26974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351B4"/>
                </a:solidFill>
                <a:latin typeface="Calibri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3794760"/>
            <a:ext cx="26974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942"/>
                </a:solidFill>
                <a:latin typeface="Calibri"/>
              </a:rPr>
              <a:t>secretarias publicadas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9136" y="2651760"/>
            <a:ext cx="2697480" cy="18288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2834640"/>
            <a:ext cx="26974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351B4"/>
                </a:solidFill>
                <a:latin typeface="Calibr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3794760"/>
            <a:ext cx="26974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942"/>
                </a:solidFill>
                <a:latin typeface="Calibri"/>
              </a:rPr>
              <a:t>critérios PNTP (Diamante)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556070"/>
                </a:solidFill>
                <a:latin typeface="Calibri"/>
              </a:rPr>
              <a:t>Também migrados o institucional, a galeria e a Carta de Serviços — com redirecionamentos que preservam os links indexados pelo Google.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de Prefeitura  ·  www.lideratecnologia.com.br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IMPLANTAÇÃO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Roda onde a prefeitura precisar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Nuvem gerenciada (Google Cloud / AWS) — provisionada por Terraform.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On-premise (Windows / Linux / Docker) — no servidor da prefeitura.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Migração do site atual sem perder histórico nem SEO.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Treinamento das equipes e suporte continuado.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Fases concluídas: Fundação · Transparência · Serviços+CMS · Diário Oficial · IA.</a:t>
            </a:r>
          </a:p>
        </p:txBody>
      </p:sp>
      <p:pic>
        <p:nvPicPr>
          <p:cNvPr id="8" name="Picture 7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161" y="4297680"/>
            <a:ext cx="7065197" cy="20116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de Prefeitura  ·  www.lideratecnologia.com.br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lidera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45722"/>
            <a:ext cx="1371600" cy="13774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Vamos modernizar a sua prefeitura?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DDE6F6"/>
                </a:solidFill>
                <a:latin typeface="Calibri"/>
              </a:rPr>
              <a:t>Agende uma demonstração gratuita e veja o portal funcionando com os dados do seu município.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332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CD07"/>
                </a:solidFill>
                <a:latin typeface="Calibri"/>
              </a:rPr>
              <a:t>✉  comercial@lideratecnologia.com.br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FDAEE"/>
                </a:solidFill>
                <a:latin typeface="Calibri"/>
              </a:rPr>
              <a:t>🌐  www.lideratecnologia.com.br      🔗  Demonstração ao vivo: prefeitura.lidera.app.br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A9B6CC"/>
                </a:solidFill>
                <a:latin typeface="Calibri"/>
              </a:rPr>
              <a:t>Lidera Tecnologia e Gestão  ·  Investimento sob consulta, conforme o porte do município.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